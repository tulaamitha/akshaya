
<file path=[Content_Types].xml><?xml version="1.0" encoding="utf-8"?>
<ns0:Types xmlns:ns0="http://schemas.openxmlformats.org/package/2006/content-types">
  <ns0:Default Extension="bin" ContentType="application/vnd.openxmlformats-officedocument.presentationml.printerSettings"/>
  <ns0:Default Extension="jpeg" ContentType="image/jpeg"/>
  <ns0:Default Extension="png" ContentType="image/png"/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s/slide10.xml" ContentType="application/vnd.openxmlformats-officedocument.presentationml.slide+xml"/>
  <ns0:Override PartName="/ppt/slides/slide11.xml" ContentType="application/vnd.openxmlformats-officedocument.presentationml.slide+xml"/>
  <ns0:Override PartName="/ppt/slides/slide2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  <ns0:Override PartName="/ppt/slides/slide6.xml" ContentType="application/vnd.openxmlformats-officedocument.presentationml.slide+xml"/>
  <ns0:Override PartName="/ppt/slides/slide7.xml" ContentType="application/vnd.openxmlformats-officedocument.presentationml.slide+xml"/>
  <ns0:Override PartName="/ppt/slides/slide8.xml" ContentType="application/vnd.openxmlformats-officedocument.presentationml.slide+xml"/>
  <ns0:Override PartName="/ppt/slides/slide9.xml" ContentType="application/vnd.openxmlformats-officedocument.presentationml.slide+xml"/>
  <ns0:Override PartName="/ppt/tableStyles.xml" ContentType="application/vnd.openxmlformats-officedocument.presentationml.tableStyles+xml"/>
  <ns0:Override PartName="/ppt/theme/theme1.xml" ContentType="application/vnd.openxmlformats-officedocument.theme+xml"/>
  <ns0:Override PartName="/ppt/viewProps.xml" ContentType="application/vnd.openxmlformats-officedocument.presentationml.viewProps+xml"/>
  <ns0:Default Extension="fntdata" ContentType="application/x-fontdata"/>
</ns0: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saveSubsetFonts="1" autoCompressPictures="0" embedTrueTypeFonts="1">
  <ns0:sldMasterIdLst>
    <ns0:sldMasterId id="2147483648" ns1:id="rId1"/>
  </ns0:sldMasterIdLst>
  <ns0:sldIdLst>
    <ns0:sldId id="256" ns1:id="rId7"/>
    <ns0:sldId id="257" ns1:id="rId8"/>
    <ns0:sldId id="258" ns1:id="rId9"/>
    <ns0:sldId id="259" ns1:id="rId10"/>
    <ns0:sldId id="260" ns1:id="rId11"/>
    <ns0:sldId id="261" ns1:id="rId12"/>
    <ns0:sldId id="262" ns1:id="rId13"/>
    <ns0:sldId id="263" ns1:id="rId14"/>
    <ns0:sldId id="264" ns1:id="rId15"/>
    <ns0:sldId id="265" ns1:id="rId16"/>
    <ns0:sldId id="266" ns1:id="rId17"/>
  </ns0:sldIdLst>
  <ns0:sldSz cx="12192000" cy="6858000" type="screen4x3"/>
  <ns0:notesSz cx="6858000" cy="9144000"/>
  <ns0:embeddedFontLst>
    <ns0:embeddedFont>
      <ns0:font typeface="JetBrains Mono"/>
      <ns0:bold ns1:id="rIdFont18"/>
      <ns0:regular ns1:id="rIdFont19"/>
    </ns0:embeddedFont>
    <ns0:embeddedFont>
      <ns0:font typeface="Inter"/>
      <ns0:bold ns1:id="rIdFont20"/>
      <ns0:regular ns1:id="rIdFont21"/>
    </ns0:embeddedFont>
  </ns0:embeddedFontLst>
  <ns0:defaultTextStyle>
    <ns2:defPPr>
      <ns2:defRPr lang="en-US"/>
    </ns2:defPPr>
    <ns2:lvl1pPr marL="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Master" Target="slideMasters/slideMaster1.xml" /><ns0:Relationship Id="rId2" Type="http://schemas.openxmlformats.org/officeDocument/2006/relationships/printerSettings" Target="printerSettings/printerSettings1.bin" /><ns0:Relationship Id="rId3" Type="http://schemas.openxmlformats.org/officeDocument/2006/relationships/presProps" Target="presProps.xml" /><ns0:Relationship Id="rId4" Type="http://schemas.openxmlformats.org/officeDocument/2006/relationships/viewProps" Target="viewProps.xml" /><ns0:Relationship Id="rId5" Type="http://schemas.openxmlformats.org/officeDocument/2006/relationships/theme" Target="theme/theme1.xml" /><ns0:Relationship Id="rId6" Type="http://schemas.openxmlformats.org/officeDocument/2006/relationships/tableStyles" Target="tableStyles.xml" /><ns0:Relationship Id="rId7" Type="http://schemas.openxmlformats.org/officeDocument/2006/relationships/slide" Target="slides/slide1.xml" /><ns0:Relationship Id="rId8" Type="http://schemas.openxmlformats.org/officeDocument/2006/relationships/slide" Target="slides/slide2.xml" /><ns0:Relationship Id="rId9" Type="http://schemas.openxmlformats.org/officeDocument/2006/relationships/slide" Target="slides/slide3.xml" /><ns0:Relationship Id="rId10" Type="http://schemas.openxmlformats.org/officeDocument/2006/relationships/slide" Target="slides/slide4.xml" /><ns0:Relationship Id="rId11" Type="http://schemas.openxmlformats.org/officeDocument/2006/relationships/slide" Target="slides/slide5.xml" /><ns0:Relationship Id="rId12" Type="http://schemas.openxmlformats.org/officeDocument/2006/relationships/slide" Target="slides/slide6.xml" /><ns0:Relationship Id="rId13" Type="http://schemas.openxmlformats.org/officeDocument/2006/relationships/slide" Target="slides/slide7.xml" /><ns0:Relationship Id="rId14" Type="http://schemas.openxmlformats.org/officeDocument/2006/relationships/slide" Target="slides/slide8.xml" /><ns0:Relationship Id="rId15" Type="http://schemas.openxmlformats.org/officeDocument/2006/relationships/slide" Target="slides/slide9.xml" /><ns0:Relationship Id="rId16" Type="http://schemas.openxmlformats.org/officeDocument/2006/relationships/slide" Target="slides/slide10.xml" /><ns0:Relationship Id="rId17" Type="http://schemas.openxmlformats.org/officeDocument/2006/relationships/slide" Target="slides/slide11.xml" /><ns0:Relationship Id="rIdFont18" Type="http://schemas.openxmlformats.org/officeDocument/2006/relationships/font" Target="fonts/6aecb23a-8154-4bb5-a733-6b6044aaff5f.fntdata" /><ns0:Relationship Id="rIdFont19" Type="http://schemas.openxmlformats.org/officeDocument/2006/relationships/font" Target="fonts/b67a5514-118f-4211-849c-070fb0117a88.fntdata" /><ns0:Relationship Id="rIdFont20" Type="http://schemas.openxmlformats.org/officeDocument/2006/relationships/font" Target="fonts/3a39fd74-ae56-49d5-88ff-60422b7d909f.fntdata" /><ns0:Relationship Id="rIdFont21" Type="http://schemas.openxmlformats.org/officeDocument/2006/relationships/font" Target="fonts/1ba1bab0-133a-4b0d-a6b3-0d3ebcc48b53.fntdata" /></ns0: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8.png"/><Relationship Id="rId8" Type="http://schemas.openxmlformats.org/officeDocument/2006/relationships/image" Target="../media/image9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image" Target="../media/image16.png"/><Relationship Id="rId7" Type="http://schemas.openxmlformats.org/officeDocument/2006/relationships/image" Target="../media/image1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3901380"/>
            <a:ext cx="5715000" cy="609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3901380"/>
            <a:ext cx="571500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14625" y="4191892"/>
            <a:ext cx="9525" cy="266700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347019"/>
            <a:ext cx="112776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38BDF8"/>
                </a:solidFill>
                <a:latin typeface="Inter"/>
              </a:rPr>
              <a:t>TECHNICAL CAPSTONE PROJECT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623244"/>
            <a:ext cx="11277600" cy="54471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290"/>
              </a:lnSpc>
            </a:pPr>
            <a:r>
              <a:rPr b="1" sz="3900" i="0" u="none">
                <a:solidFill>
                  <a:srgbClr val="F8FAFC"/>
                </a:solidFill>
                <a:latin typeface="Inter"/>
              </a:rPr>
              <a:t>BenefitShield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320355"/>
            <a:ext cx="11277600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94A3B8"/>
                </a:solidFill>
                <a:latin typeface="Inter"/>
              </a:rPr>
              <a:t>Employee Benefit Management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139505"/>
            <a:ext cx="1869281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64748B"/>
                </a:solidFill>
                <a:latin typeface="Inter"/>
              </a:rPr>
              <a:t>DEVELOPER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320480"/>
            <a:ext cx="1869281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E2E8F0"/>
                </a:solidFill>
                <a:latin typeface="Inter"/>
              </a:rPr>
              <a:t>Akshaya Venuvanka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28950" y="4139505"/>
            <a:ext cx="3048000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64748B"/>
                </a:solidFill>
                <a:latin typeface="Inter"/>
              </a:rPr>
              <a:t>ARCHITECTURE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28950" y="4320480"/>
            <a:ext cx="304800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E2E8F0"/>
                </a:solidFill>
                <a:latin typeface="Inter"/>
              </a:rPr>
              <a:t>Microservices (.NET 8 + Angular)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271712"/>
            <a:ext cx="5334000" cy="3181350"/>
          </a:xfrm>
          <a:prstGeom prst="roundRect">
            <a:avLst>
              <a:gd name="adj" fmla="val 3592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48400" y="2171700"/>
            <a:ext cx="5334000" cy="3381375"/>
          </a:xfrm>
          <a:prstGeom prst="roundRect">
            <a:avLst>
              <a:gd name="adj" fmla="val 3380"/>
            </a:avLst>
          </a:prstGeom>
          <a:solidFill>
            <a:srgbClr val="F0F9FF"/>
          </a:solidFill>
          <a:ln w="9525">
            <a:solidFill>
              <a:srgbClr val="BAE6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925" y="2586037"/>
            <a:ext cx="228600" cy="2286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2725" y="2486025"/>
            <a:ext cx="228600" cy="2286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049000" y="857250"/>
            <a:ext cx="81915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64748B"/>
                </a:solidFill>
                <a:latin typeface="Inter"/>
              </a:rPr>
              <a:t>Slide 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457200"/>
            <a:ext cx="7262812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0284C7"/>
                </a:solidFill>
                <a:latin typeface="Inter"/>
              </a:rPr>
              <a:t>SYSTEM PURPOSE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647700"/>
            <a:ext cx="7625953" cy="3714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Inter"/>
              </a:rPr>
              <a:t>Project Overview &amp; Problem Statement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66825" y="2586037"/>
            <a:ext cx="4188023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Inter"/>
              </a:rPr>
              <a:t>Traditional Operational Challenges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925" y="3005137"/>
            <a:ext cx="48006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1" sz="1125" i="0" u="none">
                <a:solidFill>
                  <a:srgbClr val="0F172A"/>
                </a:solidFill>
                <a:latin typeface="Inter"/>
              </a:rPr>
              <a:t>Manual Workflows:</a:t>
            </a:r>
            <a:r>
              <a:rPr b="0" sz="1125" i="0" u="none">
                <a:solidFill>
                  <a:srgbClr val="334155"/>
                </a:solidFill>
                <a:latin typeface="Inter"/>
              </a:rPr>
              <a:t> Error-prone paperwork slowing down insurance claims.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925" y="3538537"/>
            <a:ext cx="48006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1" sz="1125" i="0" u="none">
                <a:solidFill>
                  <a:srgbClr val="0F172A"/>
                </a:solidFill>
                <a:latin typeface="Inter"/>
              </a:rPr>
              <a:t>Processing Delays:</a:t>
            </a:r>
            <a:r>
              <a:rPr b="0" sz="1125" i="0" u="none">
                <a:solidFill>
                  <a:srgbClr val="334155"/>
                </a:solidFill>
                <a:latin typeface="Inter"/>
              </a:rPr>
              <a:t> Extended turnaround times for approvals and payouts.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3925" y="4071937"/>
            <a:ext cx="5881687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1" sz="1125" i="0" u="none">
                <a:solidFill>
                  <a:srgbClr val="0F172A"/>
                </a:solidFill>
                <a:latin typeface="Inter"/>
              </a:rPr>
              <a:t>Lack of Visibility:</a:t>
            </a:r>
            <a:r>
              <a:rPr b="0" sz="1125" i="0" u="none">
                <a:solidFill>
                  <a:srgbClr val="334155"/>
                </a:solidFill>
                <a:latin typeface="Inter"/>
              </a:rPr>
              <a:t> Zero real-time claim status tracking for employees.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925" y="4405312"/>
            <a:ext cx="5881687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1" sz="1125" i="0" u="none">
                <a:solidFill>
                  <a:srgbClr val="0F172A"/>
                </a:solidFill>
                <a:latin typeface="Inter"/>
              </a:rPr>
              <a:t>High Admin Effort:</a:t>
            </a:r>
            <a:r>
              <a:rPr b="0" sz="1125" i="0" u="none">
                <a:solidFill>
                  <a:srgbClr val="334155"/>
                </a:solidFill>
                <a:latin typeface="Inter"/>
              </a:rPr>
              <a:t> Decentralized policy and coverage limit checks.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3925" y="4738687"/>
            <a:ext cx="48006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1" sz="1125" i="0" u="none">
                <a:solidFill>
                  <a:srgbClr val="0F172A"/>
                </a:solidFill>
                <a:latin typeface="Inter"/>
              </a:rPr>
              <a:t>Monolithic Bottlenecks:</a:t>
            </a:r>
            <a:r>
              <a:rPr b="0" sz="1125" i="0" u="none">
                <a:solidFill>
                  <a:srgbClr val="334155"/>
                </a:solidFill>
                <a:latin typeface="Inter"/>
              </a:rPr>
              <a:t> Scalability issues during peak claim windows.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05625" y="2486025"/>
            <a:ext cx="3175396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Inter"/>
              </a:rPr>
              <a:t>The BenefitShield Solution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62725" y="2905125"/>
            <a:ext cx="48006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1" sz="1125" i="0" u="none">
                <a:solidFill>
                  <a:srgbClr val="0284C7"/>
                </a:solidFill>
                <a:latin typeface="Inter"/>
              </a:rPr>
              <a:t>Automated Pipelines:</a:t>
            </a:r>
            <a:r>
              <a:rPr b="0" sz="1125" i="0" u="none">
                <a:solidFill>
                  <a:srgbClr val="334155"/>
                </a:solidFill>
                <a:latin typeface="Inter"/>
              </a:rPr>
              <a:t> Instant quote generation and dynamic rule validation.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62725" y="3438525"/>
            <a:ext cx="562927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1" sz="1125" i="0" u="none">
                <a:solidFill>
                  <a:srgbClr val="0284C7"/>
                </a:solidFill>
                <a:latin typeface="Inter"/>
              </a:rPr>
              <a:t>Real-Time Tracking:</a:t>
            </a:r>
            <a:r>
              <a:rPr b="0" sz="1125" i="0" u="none">
                <a:solidFill>
                  <a:srgbClr val="334155"/>
                </a:solidFill>
                <a:latin typeface="Inter"/>
              </a:rPr>
              <a:t> End-to-end status visibility for all stakeholders.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62725" y="3771900"/>
            <a:ext cx="48006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1" sz="1125" i="0" u="none">
                <a:solidFill>
                  <a:srgbClr val="0284C7"/>
                </a:solidFill>
                <a:latin typeface="Inter"/>
              </a:rPr>
              <a:t>Centralized Control:</a:t>
            </a:r>
            <a:r>
              <a:rPr b="0" sz="1125" i="0" u="none">
                <a:solidFill>
                  <a:srgbClr val="334155"/>
                </a:solidFill>
                <a:latin typeface="Inter"/>
              </a:rPr>
              <a:t> Unified role-based management for HR &amp; Claims officers.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62725" y="4305300"/>
            <a:ext cx="48006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1" sz="1125" i="0" u="none">
                <a:solidFill>
                  <a:srgbClr val="0284C7"/>
                </a:solidFill>
                <a:latin typeface="Inter"/>
              </a:rPr>
              <a:t>Resilient Microservices:</a:t>
            </a:r>
            <a:r>
              <a:rPr b="0" sz="1125" i="0" u="none">
                <a:solidFill>
                  <a:srgbClr val="334155"/>
                </a:solidFill>
                <a:latin typeface="Inter"/>
              </a:rPr>
              <a:t> Independent, fault-tolerant service deployment.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62725" y="4838700"/>
            <a:ext cx="48006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1" sz="1125" i="0" u="none">
                <a:solidFill>
                  <a:srgbClr val="0284C7"/>
                </a:solidFill>
                <a:latin typeface="Inter"/>
              </a:rPr>
              <a:t>Secure Gateways:</a:t>
            </a:r>
            <a:r>
              <a:rPr b="0" sz="1125" i="0" u="none">
                <a:solidFill>
                  <a:srgbClr val="334155"/>
                </a:solidFill>
                <a:latin typeface="Inter"/>
              </a:rPr>
              <a:t> Centralized JWT authorization and routing via YARP.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400300"/>
            <a:ext cx="3505200" cy="2924175"/>
          </a:xfrm>
          <a:prstGeom prst="roundRect">
            <a:avLst>
              <a:gd name="adj" fmla="val 3908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43400" y="2400300"/>
            <a:ext cx="3505200" cy="2924175"/>
          </a:xfrm>
          <a:prstGeom prst="roundRect">
            <a:avLst>
              <a:gd name="adj" fmla="val 3908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77200" y="2400300"/>
            <a:ext cx="3505200" cy="2924175"/>
          </a:xfrm>
          <a:prstGeom prst="roundRect">
            <a:avLst>
              <a:gd name="adj" fmla="val 3908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3600" y="2676525"/>
            <a:ext cx="457200" cy="4572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7400" y="2676525"/>
            <a:ext cx="457200" cy="4572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1200" y="2676525"/>
            <a:ext cx="457200" cy="4572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76475" y="2809875"/>
            <a:ext cx="171450" cy="1905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76937" y="2809875"/>
            <a:ext cx="238125" cy="1905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10737" y="2809875"/>
            <a:ext cx="238125" cy="1905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85825" y="3619500"/>
            <a:ext cx="104775" cy="12382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85825" y="3876675"/>
            <a:ext cx="104775" cy="123825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85825" y="4133850"/>
            <a:ext cx="104775" cy="123825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85825" y="4391025"/>
            <a:ext cx="104775" cy="123825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85825" y="4648200"/>
            <a:ext cx="104775" cy="123825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85825" y="4905375"/>
            <a:ext cx="104775" cy="123825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19625" y="3619500"/>
            <a:ext cx="104775" cy="123825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19625" y="3876675"/>
            <a:ext cx="104775" cy="123825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19625" y="4133850"/>
            <a:ext cx="104775" cy="123825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19625" y="4391025"/>
            <a:ext cx="104775" cy="123825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19625" y="4648200"/>
            <a:ext cx="104775" cy="123825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19625" y="4905375"/>
            <a:ext cx="104775" cy="123825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53425" y="3619500"/>
            <a:ext cx="104775" cy="123825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53425" y="3876675"/>
            <a:ext cx="104775" cy="123825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53425" y="4133850"/>
            <a:ext cx="104775" cy="123825"/>
          </a:xfrm>
          <a:prstGeom prst="rect">
            <a:avLst/>
          </a:prstGeom>
        </p:spPr>
      </p:pic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53425" y="4391025"/>
            <a:ext cx="104775" cy="123825"/>
          </a:xfrm>
          <a:prstGeom prst="rect">
            <a:avLst/>
          </a:prstGeom>
        </p:spPr>
      </p:pic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53425" y="4648200"/>
            <a:ext cx="104775" cy="123825"/>
          </a:xfrm>
          <a:prstGeom prst="rect">
            <a:avLst/>
          </a:prstGeom>
        </p:spPr>
      </p:pic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53425" y="4905375"/>
            <a:ext cx="104775" cy="123825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11049000" y="857250"/>
            <a:ext cx="81915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64748B"/>
                </a:solidFill>
                <a:latin typeface="Inter"/>
              </a:rPr>
              <a:t>Slide 03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9600" y="457200"/>
            <a:ext cx="4691062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0284C7"/>
                </a:solidFill>
                <a:latin typeface="Inter"/>
              </a:rPr>
              <a:t>ROLE SCOPE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09600" y="647700"/>
            <a:ext cx="4925615" cy="3714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Inter"/>
              </a:rPr>
              <a:t>Functional Scope by Role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4457" y="3209925"/>
            <a:ext cx="3875484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0F172A"/>
                </a:solidFill>
                <a:latin typeface="Inter"/>
              </a:rPr>
              <a:t>Employee Portal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66800" y="3600450"/>
            <a:ext cx="3509962" cy="1619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0" sz="1050" i="0" u="none">
                <a:solidFill>
                  <a:srgbClr val="475569"/>
                </a:solidFill>
                <a:latin typeface="Inter"/>
              </a:rPr>
              <a:t>Self-registration &amp; JWT auth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66800" y="3857625"/>
            <a:ext cx="3509962" cy="1619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0" sz="1050" i="0" u="none">
                <a:solidFill>
                  <a:srgbClr val="475569"/>
                </a:solidFill>
                <a:latin typeface="Inter"/>
              </a:rPr>
              <a:t>View &amp; select benefit plans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66800" y="4114800"/>
            <a:ext cx="3509962" cy="1619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0" sz="1050" i="0" u="none">
                <a:solidFill>
                  <a:srgbClr val="475569"/>
                </a:solidFill>
                <a:latin typeface="Inter"/>
              </a:rPr>
              <a:t>Generate plan quotes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66800" y="4371975"/>
            <a:ext cx="3509962" cy="1619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0" sz="1050" i="0" u="none">
                <a:solidFill>
                  <a:srgbClr val="475569"/>
                </a:solidFill>
                <a:latin typeface="Inter"/>
              </a:rPr>
              <a:t>Submit benefit claims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66800" y="4629150"/>
            <a:ext cx="3509962" cy="1619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0" sz="1050" i="0" u="none">
                <a:solidFill>
                  <a:srgbClr val="475569"/>
                </a:solidFill>
                <a:latin typeface="Inter"/>
              </a:rPr>
              <a:t>Real-time status tracking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6800" y="4886325"/>
            <a:ext cx="3509962" cy="1619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0" sz="1050" i="0" u="none">
                <a:solidFill>
                  <a:srgbClr val="475569"/>
                </a:solidFill>
                <a:latin typeface="Inter"/>
              </a:rPr>
              <a:t>Monitor coverage balances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158257" y="3209925"/>
            <a:ext cx="3875484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0F172A"/>
                </a:solidFill>
                <a:latin typeface="Inter"/>
              </a:rPr>
              <a:t>Claims Officer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800600" y="3600450"/>
            <a:ext cx="3509962" cy="1619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0" sz="1050" i="0" u="none">
                <a:solidFill>
                  <a:srgbClr val="475569"/>
                </a:solidFill>
                <a:latin typeface="Inter"/>
              </a:rPr>
              <a:t>View assigned claim queues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800600" y="3857625"/>
            <a:ext cx="3509962" cy="1619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0" sz="1050" i="0" u="none">
                <a:solidFill>
                  <a:srgbClr val="475569"/>
                </a:solidFill>
                <a:latin typeface="Inter"/>
              </a:rPr>
              <a:t>Review claim documentation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800600" y="4114800"/>
            <a:ext cx="3509962" cy="1619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0" sz="1050" i="0" u="none">
                <a:solidFill>
                  <a:srgbClr val="475569"/>
                </a:solidFill>
                <a:latin typeface="Inter"/>
              </a:rPr>
              <a:t>Validate coverage eligibility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800600" y="4371975"/>
            <a:ext cx="3509962" cy="1619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0" sz="1050" i="0" u="none">
                <a:solidFill>
                  <a:srgbClr val="475569"/>
                </a:solidFill>
                <a:latin typeface="Inter"/>
              </a:rPr>
              <a:t>Approve or reject claims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800600" y="4629150"/>
            <a:ext cx="3509962" cy="1619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0" sz="1050" i="0" u="none">
                <a:solidFill>
                  <a:srgbClr val="475569"/>
                </a:solidFill>
                <a:latin typeface="Inter"/>
              </a:rPr>
              <a:t>Specify approved amounts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800600" y="4886325"/>
            <a:ext cx="3509962" cy="1619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0" sz="1050" i="0" u="none">
                <a:solidFill>
                  <a:srgbClr val="475569"/>
                </a:solidFill>
                <a:latin typeface="Inter"/>
              </a:rPr>
              <a:t>Manage claim workflows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892057" y="3209925"/>
            <a:ext cx="3875484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0F172A"/>
                </a:solidFill>
                <a:latin typeface="Inter"/>
              </a:rPr>
              <a:t>System Administrator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534400" y="3600450"/>
            <a:ext cx="3509962" cy="1619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0" sz="1050" i="0" u="none">
                <a:solidFill>
                  <a:srgbClr val="475569"/>
                </a:solidFill>
                <a:latin typeface="Inter"/>
              </a:rPr>
              <a:t>User &amp; role provisioning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534400" y="3857625"/>
            <a:ext cx="3509962" cy="1619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0" sz="1050" i="0" u="none">
                <a:solidFill>
                  <a:srgbClr val="475569"/>
                </a:solidFill>
                <a:latin typeface="Inter"/>
              </a:rPr>
              <a:t>Configure benefit plans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534400" y="4114800"/>
            <a:ext cx="3509962" cy="1619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0" sz="1050" i="0" u="none">
                <a:solidFill>
                  <a:srgbClr val="475569"/>
                </a:solidFill>
                <a:latin typeface="Inter"/>
              </a:rPr>
              <a:t>Allocate coverage limits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534400" y="4371975"/>
            <a:ext cx="3509962" cy="1619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0" sz="1050" i="0" u="none">
                <a:solidFill>
                  <a:srgbClr val="475569"/>
                </a:solidFill>
                <a:latin typeface="Inter"/>
              </a:rPr>
              <a:t>Approve generated quotes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534400" y="4629150"/>
            <a:ext cx="3509962" cy="1619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0" sz="1050" i="0" u="none">
                <a:solidFill>
                  <a:srgbClr val="475569"/>
                </a:solidFill>
                <a:latin typeface="Inter"/>
              </a:rPr>
              <a:t>Monitor system activity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534400" y="4886325"/>
            <a:ext cx="3509962" cy="1619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0" sz="1050" i="0" u="none">
                <a:solidFill>
                  <a:srgbClr val="475569"/>
                </a:solidFill>
                <a:latin typeface="Inter"/>
              </a:rPr>
              <a:t>Maintain system master data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409825"/>
            <a:ext cx="3530500" cy="1276350"/>
          </a:xfrm>
          <a:prstGeom prst="roundRect">
            <a:avLst>
              <a:gd name="adj" fmla="val 895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30600" y="2409825"/>
            <a:ext cx="3530649" cy="1276350"/>
          </a:xfrm>
          <a:prstGeom prst="roundRect">
            <a:avLst>
              <a:gd name="adj" fmla="val 895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51750" y="2409825"/>
            <a:ext cx="3530500" cy="1276350"/>
          </a:xfrm>
          <a:prstGeom prst="roundRect">
            <a:avLst>
              <a:gd name="adj" fmla="val 895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09600" y="3876675"/>
            <a:ext cx="3530500" cy="1438275"/>
          </a:xfrm>
          <a:prstGeom prst="roundRect">
            <a:avLst>
              <a:gd name="adj" fmla="val 794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330600" y="3876675"/>
            <a:ext cx="3530649" cy="1438275"/>
          </a:xfrm>
          <a:prstGeom prst="roundRect">
            <a:avLst>
              <a:gd name="adj" fmla="val 794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051750" y="3876675"/>
            <a:ext cx="3530500" cy="1438275"/>
          </a:xfrm>
          <a:prstGeom prst="roundRect">
            <a:avLst>
              <a:gd name="adj" fmla="val 794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49000" y="857250"/>
            <a:ext cx="81915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64748B"/>
                </a:solidFill>
                <a:latin typeface="Inter"/>
              </a:rPr>
              <a:t>Slide 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457200"/>
            <a:ext cx="6905625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0284C7"/>
                </a:solidFill>
                <a:latin typeface="Inter"/>
              </a:rPr>
              <a:t>ARCHITECTURE STACK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647700"/>
            <a:ext cx="7250906" cy="3714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Inter"/>
              </a:rPr>
              <a:t>Technical Scope &amp; Technology Stack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7725" y="2647950"/>
            <a:ext cx="3817813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0284C7"/>
                </a:solidFill>
                <a:latin typeface="Inter"/>
              </a:rPr>
              <a:t>FRONTEND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7725" y="2847975"/>
            <a:ext cx="4008704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Angular Framework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7725" y="3124200"/>
            <a:ext cx="31495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Inter"/>
              </a:rPr>
              <a:t>Single Page Application rendering responsive portals for Employees, Officers, and Admins.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68725" y="2647950"/>
            <a:ext cx="3817999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0284C7"/>
                </a:solidFill>
                <a:latin typeface="Inter"/>
              </a:rPr>
              <a:t>BACKEND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68725" y="2847975"/>
            <a:ext cx="4008899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ASP.NET 8 Core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68725" y="3124200"/>
            <a:ext cx="3149649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Inter"/>
              </a:rPr>
              <a:t>High-performance, domain-isolated microservices with EF Core persistence.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89875" y="2647950"/>
            <a:ext cx="3817813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0284C7"/>
                </a:solidFill>
                <a:latin typeface="Inter"/>
              </a:rPr>
              <a:t>API GATEWAY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89875" y="2847975"/>
            <a:ext cx="3902124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YARP Gateway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89875" y="3124200"/>
            <a:ext cx="31495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Inter"/>
              </a:rPr>
              <a:t>Single entry point handling request routing, load balancing, and auth propagation.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7725" y="4114800"/>
            <a:ext cx="3817813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0284C7"/>
                </a:solidFill>
                <a:latin typeface="Inter"/>
              </a:rPr>
              <a:t>SECURITY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7725" y="4314825"/>
            <a:ext cx="4008704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JWT &amp; RBAC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7725" y="4591050"/>
            <a:ext cx="3149500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Inter"/>
              </a:rPr>
              <a:t>Stateless token authorization with strict Role-Based Access Control enforcing endpoint security.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68725" y="4114800"/>
            <a:ext cx="3817999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0284C7"/>
                </a:solidFill>
                <a:latin typeface="Inter"/>
              </a:rPr>
              <a:t>DATABASE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68725" y="4314825"/>
            <a:ext cx="4008899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SQL Server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68725" y="4591050"/>
            <a:ext cx="3149649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Inter"/>
              </a:rPr>
              <a:t>Database-per-service pattern ensuring database isolation across independent microservices.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89875" y="4114800"/>
            <a:ext cx="3817813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0284C7"/>
                </a:solidFill>
                <a:latin typeface="Inter"/>
              </a:rPr>
              <a:t>RESILIENCE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89875" y="4314825"/>
            <a:ext cx="3902124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Polly Resilience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89875" y="4591050"/>
            <a:ext cx="31495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Inter"/>
              </a:rPr>
              <a:t>Fault-tolerant inter-service HTTP communication with automated retry mechanisms.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209675"/>
            <a:ext cx="10972800" cy="5191125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3425" y="1333500"/>
            <a:ext cx="10725150" cy="494347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049000" y="857250"/>
            <a:ext cx="81915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64748B"/>
                </a:solidFill>
                <a:latin typeface="Inter"/>
              </a:rPr>
              <a:t>Slide 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457200"/>
            <a:ext cx="6322218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0284C7"/>
                </a:solidFill>
                <a:latin typeface="Inter"/>
              </a:rPr>
              <a:t>SYSTEM BLUEPRINT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647700"/>
            <a:ext cx="6638329" cy="3714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Inter"/>
              </a:rPr>
              <a:t>Technology Architecture Diagram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209675"/>
            <a:ext cx="10972800" cy="5191125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3425" y="1333500"/>
            <a:ext cx="10725150" cy="494347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049000" y="857250"/>
            <a:ext cx="81915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64748B"/>
                </a:solidFill>
                <a:latin typeface="Inter"/>
              </a:rPr>
              <a:t>Slide 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457200"/>
            <a:ext cx="4774406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0284C7"/>
                </a:solidFill>
                <a:latin typeface="Inter"/>
              </a:rPr>
              <a:t>SECURITY WORKFLOW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647700"/>
            <a:ext cx="5013126" cy="3714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Inter"/>
              </a:rPr>
              <a:t>JWT Authentication Flow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565201"/>
            <a:ext cx="5372100" cy="1182885"/>
          </a:xfrm>
          <a:prstGeom prst="roundRect">
            <a:avLst>
              <a:gd name="adj" fmla="val 9662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10300" y="2565201"/>
            <a:ext cx="5372100" cy="1182885"/>
          </a:xfrm>
          <a:prstGeom prst="roundRect">
            <a:avLst>
              <a:gd name="adj" fmla="val 9662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09600" y="3976687"/>
            <a:ext cx="5372100" cy="1182885"/>
          </a:xfrm>
          <a:prstGeom prst="roundRect">
            <a:avLst>
              <a:gd name="adj" fmla="val 9662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210300" y="3976687"/>
            <a:ext cx="5372100" cy="1182885"/>
          </a:xfrm>
          <a:prstGeom prst="roundRect">
            <a:avLst>
              <a:gd name="adj" fmla="val 9662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825" y="2841426"/>
            <a:ext cx="419100" cy="4191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6525" y="2841426"/>
            <a:ext cx="419100" cy="4191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825" y="4252912"/>
            <a:ext cx="419100" cy="4191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6525" y="4252912"/>
            <a:ext cx="419100" cy="4191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3937" y="2955726"/>
            <a:ext cx="142875" cy="1905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00825" y="2955726"/>
            <a:ext cx="190500" cy="1905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3937" y="4367212"/>
            <a:ext cx="142875" cy="1905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86537" y="4367212"/>
            <a:ext cx="219075" cy="1905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1058525" y="857250"/>
            <a:ext cx="809625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64748B"/>
                </a:solidFill>
                <a:latin typeface="Inter"/>
              </a:rPr>
              <a:t>Slide 07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600" y="457200"/>
            <a:ext cx="7405687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0284C7"/>
                </a:solidFill>
                <a:latin typeface="Inter"/>
              </a:rPr>
              <a:t>CORE CAPABILITIES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9600" y="647700"/>
            <a:ext cx="7775971" cy="3714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Inter"/>
              </a:rPr>
              <a:t>System Modules &amp; Business Workflows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95425" y="2841426"/>
            <a:ext cx="552569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Quotes Management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95425" y="3098601"/>
            <a:ext cx="4305300" cy="3732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b="0" sz="1050" i="0" u="none">
                <a:solidFill>
                  <a:srgbClr val="64748B"/>
                </a:solidFill>
                <a:latin typeface="Inter"/>
              </a:rPr>
              <a:t>Interactive premium calculation based on selected policy coverage, family parameters, and admin review workflows.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96125" y="2841426"/>
            <a:ext cx="509587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Coverage Engine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96125" y="3098601"/>
            <a:ext cx="4305300" cy="3732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b="0" sz="1050" i="0" u="none">
                <a:solidFill>
                  <a:srgbClr val="64748B"/>
                </a:solidFill>
                <a:latin typeface="Inter"/>
              </a:rPr>
              <a:t>Allocates and tracks active policy limits, effective renewal schedules, and eligibility balance validations.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95425" y="4252912"/>
            <a:ext cx="552569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Claims Life-Cycle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95425" y="4510087"/>
            <a:ext cx="4305300" cy="3732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b="0" sz="1050" i="0" u="none">
                <a:solidFill>
                  <a:srgbClr val="64748B"/>
                </a:solidFill>
                <a:latin typeface="Inter"/>
              </a:rPr>
              <a:t>Enables claim submission with document uploads, assignment to officers, and structured approval/rejection queues.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96125" y="4252912"/>
            <a:ext cx="509587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Payment Processing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96125" y="4510087"/>
            <a:ext cx="4305300" cy="3732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b="0" sz="1050" i="0" u="none">
                <a:solidFill>
                  <a:srgbClr val="64748B"/>
                </a:solidFill>
                <a:latin typeface="Inter"/>
              </a:rPr>
              <a:t>Automates payout record generation upon claim approval, payment status updates, and transaction logging.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1247775"/>
            <a:ext cx="3555950" cy="838200"/>
          </a:xfrm>
          <a:prstGeom prst="roundRect">
            <a:avLst>
              <a:gd name="adj" fmla="val 9090"/>
            </a:avLst>
          </a:prstGeom>
          <a:solidFill>
            <a:srgbClr val="F0FDF4"/>
          </a:solidFill>
          <a:ln w="9525">
            <a:solidFill>
              <a:srgbClr val="BBF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17950" y="1247775"/>
            <a:ext cx="3555950" cy="838200"/>
          </a:xfrm>
          <a:prstGeom prst="roundRect">
            <a:avLst>
              <a:gd name="adj" fmla="val 909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26300" y="1247775"/>
            <a:ext cx="3555950" cy="838200"/>
          </a:xfrm>
          <a:prstGeom prst="roundRect">
            <a:avLst>
              <a:gd name="adj" fmla="val 909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09600" y="2314575"/>
            <a:ext cx="5410200" cy="1966912"/>
          </a:xfrm>
          <a:prstGeom prst="roundRect">
            <a:avLst>
              <a:gd name="adj" fmla="val 3874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172200" y="2314575"/>
            <a:ext cx="5410200" cy="1966912"/>
          </a:xfrm>
          <a:prstGeom prst="roundRect">
            <a:avLst>
              <a:gd name="adj" fmla="val 3874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09600" y="4433887"/>
            <a:ext cx="5410200" cy="1966912"/>
          </a:xfrm>
          <a:prstGeom prst="roundRect">
            <a:avLst>
              <a:gd name="adj" fmla="val 3874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172200" y="4433887"/>
            <a:ext cx="5410200" cy="1966912"/>
          </a:xfrm>
          <a:prstGeom prst="roundRect">
            <a:avLst>
              <a:gd name="adj" fmla="val 3874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876800" y="2505075"/>
            <a:ext cx="952500" cy="190500"/>
          </a:xfrm>
          <a:prstGeom prst="roundRect">
            <a:avLst>
              <a:gd name="adj" fmla="val 20000"/>
            </a:avLst>
          </a:prstGeom>
          <a:solidFill>
            <a:srgbClr val="112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0439400" y="2505075"/>
            <a:ext cx="952500" cy="190500"/>
          </a:xfrm>
          <a:prstGeom prst="roundRect">
            <a:avLst>
              <a:gd name="adj" fmla="val 20000"/>
            </a:avLst>
          </a:prstGeom>
          <a:solidFill>
            <a:srgbClr val="112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876800" y="4624387"/>
            <a:ext cx="952500" cy="190500"/>
          </a:xfrm>
          <a:prstGeom prst="roundRect">
            <a:avLst>
              <a:gd name="adj" fmla="val 20000"/>
            </a:avLst>
          </a:prstGeom>
          <a:solidFill>
            <a:srgbClr val="112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0572750" y="4624387"/>
            <a:ext cx="819150" cy="190500"/>
          </a:xfrm>
          <a:prstGeom prst="roundRect">
            <a:avLst>
              <a:gd name="adj" fmla="val 20000"/>
            </a:avLst>
          </a:prstGeom>
          <a:solidFill>
            <a:srgbClr val="112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049000" y="857250"/>
            <a:ext cx="81915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64748B"/>
                </a:solidFill>
                <a:latin typeface="Inter"/>
              </a:rPr>
              <a:t>Slide 08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600" y="457200"/>
            <a:ext cx="542925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0284C7"/>
                </a:solidFill>
                <a:latin typeface="Inter"/>
              </a:rPr>
              <a:t>QUALITY ASSURANCE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600" y="647700"/>
            <a:ext cx="5700712" cy="3714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Inter"/>
              </a:rPr>
              <a:t>Backend Unit Testing Results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7512" y="1409700"/>
            <a:ext cx="4040125" cy="323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2100" i="0" u="none">
                <a:solidFill>
                  <a:srgbClr val="16A34A"/>
                </a:solidFill>
                <a:latin typeface="Inter"/>
              </a:rPr>
              <a:t>73 / 73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7512" y="1771650"/>
            <a:ext cx="4040125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975" i="0" u="none">
                <a:solidFill>
                  <a:srgbClr val="15803D"/>
                </a:solidFill>
                <a:latin typeface="Inter"/>
              </a:rPr>
              <a:t>Total Backend Tests Passed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75862" y="1409700"/>
            <a:ext cx="4040125" cy="323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2100" i="0" u="none">
                <a:solidFill>
                  <a:srgbClr val="0F172A"/>
                </a:solidFill>
                <a:latin typeface="Inter"/>
              </a:rPr>
              <a:t>100%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75862" y="1771650"/>
            <a:ext cx="4040125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975" i="0" u="none">
                <a:solidFill>
                  <a:srgbClr val="64748B"/>
                </a:solidFill>
                <a:latin typeface="Inter"/>
              </a:rPr>
              <a:t>Execution Pass Rate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84213" y="1409700"/>
            <a:ext cx="4040125" cy="323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2100" i="0" u="none">
                <a:solidFill>
                  <a:srgbClr val="0F172A"/>
                </a:solidFill>
                <a:latin typeface="Inter"/>
              </a:rPr>
              <a:t>4 Microservices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84213" y="1771650"/>
            <a:ext cx="4040125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975" i="0" u="none">
                <a:solidFill>
                  <a:srgbClr val="64748B"/>
                </a:solidFill>
                <a:latin typeface="Inter"/>
              </a:rPr>
              <a:t>Test Assemblies Validated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0100" y="2771775"/>
            <a:ext cx="62865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94A3B8"/>
                </a:solidFill>
                <a:latin typeface="JetBrains Mono"/>
              </a:rPr>
              <a:t>Duration: 145 ms | Framework: .NET 10.0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62700" y="2771775"/>
            <a:ext cx="58293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94A3B8"/>
                </a:solidFill>
                <a:latin typeface="JetBrains Mono"/>
              </a:rPr>
              <a:t>Duration: 138 ms | Framework: .NET 10.0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0100" y="4891087"/>
            <a:ext cx="62865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94A3B8"/>
                </a:solidFill>
                <a:latin typeface="JetBrains Mono"/>
              </a:rPr>
              <a:t>Duration: 154 ms | Framework: .NET 10.0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62700" y="4891087"/>
            <a:ext cx="58293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94A3B8"/>
                </a:solidFill>
                <a:latin typeface="JetBrains Mono"/>
              </a:rPr>
              <a:t>Duration: 110 ms | Framework: .NET 10.0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0100" y="2514600"/>
            <a:ext cx="19050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38BDF8"/>
                </a:solidFill>
                <a:latin typeface="JetBrains Mono"/>
              </a:rPr>
              <a:t>CoverageServiceTests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953000" y="2524125"/>
            <a:ext cx="89535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4ADE80"/>
                </a:solidFill>
                <a:latin typeface="JetBrains Mono"/>
              </a:rPr>
              <a:t>25/25 PASSED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62700" y="2514600"/>
            <a:ext cx="15240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38BDF8"/>
                </a:solidFill>
                <a:latin typeface="JetBrains Mono"/>
              </a:rPr>
              <a:t>AuthServiceTests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15600" y="2524125"/>
            <a:ext cx="89535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4ADE80"/>
                </a:solidFill>
                <a:latin typeface="JetBrains Mono"/>
              </a:rPr>
              <a:t>20/20 PASSED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0100" y="4633912"/>
            <a:ext cx="17145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38BDF8"/>
                </a:solidFill>
                <a:latin typeface="JetBrains Mono"/>
              </a:rPr>
              <a:t>ClaimsServiceTests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953000" y="4643437"/>
            <a:ext cx="89535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4ADE80"/>
                </a:solidFill>
                <a:latin typeface="JetBrains Mono"/>
              </a:rPr>
              <a:t>19/19 PASSED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62700" y="4633912"/>
            <a:ext cx="19050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38BDF8"/>
                </a:solidFill>
                <a:latin typeface="JetBrains Mono"/>
              </a:rPr>
              <a:t>EmployeeServiceTests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648950" y="4643437"/>
            <a:ext cx="76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4ADE80"/>
                </a:solidFill>
                <a:latin typeface="JetBrains Mono"/>
              </a:rPr>
              <a:t>9/9 PASSED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605087"/>
            <a:ext cx="6104632" cy="2514600"/>
          </a:xfrm>
          <a:prstGeom prst="roundRect">
            <a:avLst>
              <a:gd name="adj" fmla="val 4545"/>
            </a:avLst>
          </a:prstGeom>
          <a:solidFill>
            <a:srgbClr val="0F172A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019032" y="2252662"/>
            <a:ext cx="4563367" cy="971550"/>
          </a:xfrm>
          <a:prstGeom prst="roundRect">
            <a:avLst>
              <a:gd name="adj" fmla="val 1176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019032" y="3376612"/>
            <a:ext cx="4563367" cy="971550"/>
          </a:xfrm>
          <a:prstGeom prst="roundRect">
            <a:avLst>
              <a:gd name="adj" fmla="val 1176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019032" y="4500562"/>
            <a:ext cx="4563367" cy="971550"/>
          </a:xfrm>
          <a:prstGeom prst="roundRect">
            <a:avLst>
              <a:gd name="adj" fmla="val 1176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23925" y="2938462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114425" y="2938462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304925" y="2938462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23925" y="4395787"/>
            <a:ext cx="5475982" cy="409575"/>
          </a:xfrm>
          <a:prstGeom prst="roundRect">
            <a:avLst>
              <a:gd name="adj" fmla="val 13953"/>
            </a:avLst>
          </a:prstGeom>
          <a:solidFill>
            <a:srgbClr val="10292E"/>
          </a:solidFill>
          <a:ln w="9525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0" y="4538662"/>
            <a:ext cx="133350" cy="1333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1049000" y="857250"/>
            <a:ext cx="81915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64748B"/>
                </a:solidFill>
                <a:latin typeface="Inter"/>
              </a:rPr>
              <a:t>Slide 09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457200"/>
            <a:ext cx="6846093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0284C7"/>
                </a:solidFill>
                <a:latin typeface="Inter"/>
              </a:rPr>
              <a:t>QUALITY ASSURANCE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647700"/>
            <a:ext cx="7188398" cy="3714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Inter"/>
              </a:rPr>
              <a:t>Frontend Automated Testing Results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71625" y="2919412"/>
            <a:ext cx="2250281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64748B"/>
                </a:solidFill>
                <a:latin typeface="JetBrains Mono"/>
              </a:rPr>
              <a:t>vitest-runner --watch=false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3925" y="3386137"/>
            <a:ext cx="6844977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4ADE80"/>
                </a:solidFill>
                <a:latin typeface="JetBrains Mono"/>
              </a:rPr>
              <a:t>Test Files:</a:t>
            </a:r>
            <a:r>
              <a:rPr b="0" sz="1125" i="0" u="none">
                <a:solidFill>
                  <a:srgbClr val="E2E8F0"/>
                </a:solidFill>
                <a:latin typeface="JetBrains Mono"/>
              </a:rPr>
              <a:t> 21 passed (21)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3925" y="3690937"/>
            <a:ext cx="6844977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4ADE80"/>
                </a:solidFill>
                <a:latin typeface="JetBrains Mono"/>
              </a:rPr>
              <a:t>Tests:</a:t>
            </a:r>
            <a:r>
              <a:rPr b="0" sz="1125" i="0" u="none">
                <a:solidFill>
                  <a:srgbClr val="E2E8F0"/>
                </a:solidFill>
                <a:latin typeface="JetBrains Mono"/>
              </a:rPr>
              <a:t> 110 passed (110)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3925" y="3995737"/>
            <a:ext cx="6844977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94A3B8"/>
                </a:solidFill>
                <a:latin typeface="JetBrains Mono"/>
              </a:rPr>
              <a:t>Duration: 4.71s (transform 2.00s, setup 4.35s)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7275" y="4491037"/>
            <a:ext cx="5304532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4ADE80"/>
                </a:solidFill>
                <a:latin typeface="JetBrains Mono"/>
              </a:rPr>
              <a:t> STATUS: PASSING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19057" y="2452687"/>
            <a:ext cx="4972942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Inter"/>
              </a:rPr>
              <a:t>Component Validation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19057" y="2700337"/>
            <a:ext cx="4258567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Inter"/>
              </a:rPr>
              <a:t>Angular UI components and view render tests across 21 specification files.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19057" y="3576637"/>
            <a:ext cx="4972942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Inter"/>
              </a:rPr>
              <a:t>Auth &amp; Route Guard Testing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19057" y="3824287"/>
            <a:ext cx="4258567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Inter"/>
              </a:rPr>
              <a:t>JWT token storage, route protection, and role-based redirect flows.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19057" y="4700587"/>
            <a:ext cx="4972942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Inter"/>
              </a:rPr>
              <a:t>Form &amp; API Service Mocks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19057" y="4948237"/>
            <a:ext cx="4258567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Inter"/>
              </a:rPr>
              <a:t>Validation rules for claim creation forms and HTTP interceptor behavior.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738437"/>
            <a:ext cx="10972800" cy="1066800"/>
          </a:xfrm>
          <a:prstGeom prst="roundRect">
            <a:avLst>
              <a:gd name="adj" fmla="val 10714"/>
            </a:avLst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3995737"/>
            <a:ext cx="3530500" cy="990600"/>
          </a:xfrm>
          <a:prstGeom prst="roundRect">
            <a:avLst>
              <a:gd name="adj" fmla="val 961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330600" y="3995737"/>
            <a:ext cx="3530649" cy="990600"/>
          </a:xfrm>
          <a:prstGeom prst="roundRect">
            <a:avLst>
              <a:gd name="adj" fmla="val 961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051750" y="3995737"/>
            <a:ext cx="3530500" cy="990600"/>
          </a:xfrm>
          <a:prstGeom prst="roundRect">
            <a:avLst>
              <a:gd name="adj" fmla="val 961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077575" y="857250"/>
            <a:ext cx="790575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64748B"/>
                </a:solidFill>
                <a:latin typeface="Inter"/>
              </a:rPr>
              <a:t>Slide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457200"/>
            <a:ext cx="6179343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0284C7"/>
                </a:solidFill>
                <a:latin typeface="Inter"/>
              </a:rPr>
              <a:t>PROJECT SUMMARY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647700"/>
            <a:ext cx="6488310" cy="3714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Inter"/>
              </a:rPr>
              <a:t>Conclusion &amp; Architectural Value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6300" y="3005137"/>
            <a:ext cx="105346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b="1" sz="1500" i="0" u="none">
                <a:solidFill>
                  <a:srgbClr val="FFFFFF"/>
                </a:solidFill>
                <a:latin typeface="Inter"/>
              </a:rPr>
              <a:t>"BenefitShield delivers a secure, scalable, and resilient employee benefits management platform built on modern cloud-native standards."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9625" y="4195762"/>
            <a:ext cx="4108716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Inter"/>
              </a:rPr>
              <a:t>Microservices Decoupling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9625" y="4462462"/>
            <a:ext cx="32257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Inter"/>
              </a:rPr>
              <a:t>Domain separation across Auth, Employee, Coverage, Claims, and Payment services.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30625" y="4195762"/>
            <a:ext cx="4108911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Inter"/>
              </a:rPr>
              <a:t>High Resilience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30625" y="4462462"/>
            <a:ext cx="3225849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Inter"/>
              </a:rPr>
              <a:t>Polly-based transient fault handling and retry mechanisms across API endpoints.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51775" y="4195762"/>
            <a:ext cx="3940224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Inter"/>
              </a:rPr>
              <a:t>Full Test Coverage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51775" y="4462462"/>
            <a:ext cx="32257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Inter"/>
              </a:rPr>
              <a:t>Fully verified unit testing suites covering both backend microservices and frontend client logic.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100637" y="4286250"/>
            <a:ext cx="1990725" cy="371475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1200" y="2200275"/>
            <a:ext cx="609600" cy="6096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62650" y="2371725"/>
            <a:ext cx="266700" cy="2667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808089" y="3038475"/>
            <a:ext cx="6575821" cy="561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3600" i="0" u="none">
                <a:solidFill>
                  <a:srgbClr val="F8FAFC"/>
                </a:solidFill>
                <a:latin typeface="Inter"/>
              </a:rP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64656" y="3752850"/>
            <a:ext cx="6262687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500" i="0" u="none">
                <a:solidFill>
                  <a:srgbClr val="94A3B8"/>
                </a:solidFill>
                <a:latin typeface="Inter"/>
              </a:rPr>
              <a:t>BenefitShield – Employee Benefit Management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80396" y="4381500"/>
            <a:ext cx="2031206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050" i="0" u="none">
                <a:solidFill>
                  <a:srgbClr val="CBD5E1"/>
                </a:solidFill>
                <a:latin typeface="Inter"/>
              </a:rPr>
              <a:t>Questions &amp;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